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011680"/>
            <a:ext cx="94457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C8232C"/>
                </a:solidFill>
                <a:latin typeface="Segoe UI"/>
              </a:defRPr>
            </a:pPr>
            <a:r>
              <a:t>TRUST WIRE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4612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  <a:latin typeface="Segoe UI"/>
              </a:defRPr>
            </a:pPr>
            <a:r>
              <a:t>Autonomous Local AI Deception Defense &amp; Forensic Deepfake Shield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3977639"/>
            <a:ext cx="8165592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TEAM: THE OMNISCIENT</a:t>
            </a:r>
          </a:p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Rudra Veer Singh   •   Daksh Pratap Singh   •   Shivaksh Arya   •   Suhel Khan</a:t>
            </a:r>
          </a:p>
          <a:p>
            <a:pPr algn="ctr">
              <a:defRPr sz="1300" b="1">
                <a:solidFill>
                  <a:srgbClr val="C8232C"/>
                </a:solidFill>
                <a:latin typeface="Segoe UI"/>
              </a:defRPr>
            </a:pPr>
            <a:r>
              <a:t>TRACK: AI/ML, CYBERSECURITY &amp; DIGITAL TRUST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4592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4748B"/>
                </a:solidFill>
                <a:latin typeface="Segoe UI"/>
              </a:defRPr>
            </a:pPr>
            <a:r>
              <a:t>On-Premises Real-Time Deception Defense Against Generative Deepfakes &amp; Synthetic Voice Cloning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4937760" cy="40233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C82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C8232C"/>
                </a:solidFill>
                <a:latin typeface="Segoe UI"/>
              </a:defRPr>
            </a:pPr>
            <a:r>
              <a:t>THE DECEPTION THREAT</a:t>
            </a:r>
          </a:p>
          <a:p>
            <a:pPr>
              <a:defRPr b="1" sz="1200">
                <a:solidFill>
                  <a:srgbClr val="1E293B"/>
                </a:solidFill>
                <a:latin typeface="Segoe UI"/>
              </a:defRPr>
            </a:pPr>
            <a:r>
              <a:t>•  Hyper-Realistic AI Media: 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    Diffusion models (Veo, Sora, Gemini, DeepFaceLab) generate photorealistic visual manipulations indistinguishable to the human eye.</a:t>
            </a:r>
          </a:p>
          <a:p>
            <a:pPr>
              <a:defRPr b="1" sz="1200">
                <a:solidFill>
                  <a:srgbClr val="1E293B"/>
                </a:solidFill>
                <a:latin typeface="Segoe UI"/>
              </a:defRPr>
            </a:pPr>
            <a:r>
              <a:t>•  Voice Cloning Vulnerability: 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    Neural vocoders (ElevenLabs, Bark) synthesize convincing voice timbre, cadence, and emotion from brief reference audio.</a:t>
            </a:r>
          </a:p>
          <a:p>
            <a:pPr>
              <a:defRPr b="1" sz="1200">
                <a:solidFill>
                  <a:srgbClr val="1E293B"/>
                </a:solidFill>
                <a:latin typeface="Segoe UI"/>
              </a:defRPr>
            </a:pPr>
            <a:r>
              <a:t>•  Cloud Privacy Violations: 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    Commercial detectors require uploading sensitive executive calls and proprietary recordings to 3rd-party servers, breaching enterprise confidentiality.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94560"/>
            <a:ext cx="5029200" cy="40233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D9488"/>
                </a:solidFill>
                <a:latin typeface="Segoe UI"/>
              </a:defRPr>
            </a:pPr>
            <a:r>
              <a:t>THE TRUSTWIRE INNOVATION</a:t>
            </a:r>
          </a:p>
          <a:p>
            <a:pPr>
              <a:defRPr b="1" sz="1200">
                <a:solidFill>
                  <a:srgbClr val="1E293B"/>
                </a:solidFill>
                <a:latin typeface="Segoe UI"/>
              </a:defRPr>
            </a:pPr>
            <a:r>
              <a:t>✔  100% On-Device Local Processing: 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    Zero external network calls or cloud dependencies. All neural networks execute locally with strict 15-minute ephemeral memory purging.</a:t>
            </a:r>
          </a:p>
          <a:p>
            <a:pPr>
              <a:defRPr b="1" sz="1200">
                <a:solidFill>
                  <a:srgbClr val="1E293B"/>
                </a:solidFill>
                <a:latin typeface="Segoe UI"/>
              </a:defRPr>
            </a:pPr>
            <a:r>
              <a:t>✔  Dual-Modal Deep Learning Shield: 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    Vision Transformer (ViT) face forensic scoring paired with INT8 Quantized Wav2Vec2 audio acoustic spoofing detection.</a:t>
            </a:r>
          </a:p>
          <a:p>
            <a:pPr>
              <a:defRPr b="1" sz="1200">
                <a:solidFill>
                  <a:srgbClr val="1E293B"/>
                </a:solidFill>
                <a:latin typeface="Segoe UI"/>
              </a:defRPr>
            </a:pPr>
            <a:r>
              <a:t>✔  Generative Watermark Provenance: 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    Multi-scale Canny edge correlation for SynthID/Gemini watermarks and container encoder verification (100% precision on Gemini AI).</a:t>
            </a:r>
          </a:p>
          <a:p>
            <a:pPr>
              <a:defRPr b="1" sz="1200">
                <a:solidFill>
                  <a:srgbClr val="1E293B"/>
                </a:solidFill>
                <a:latin typeface="Segoe UI"/>
              </a:defRPr>
            </a:pPr>
            <a:r>
              <a:t>✔  Strict Architectural Decoupling: 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    Independent offline media analysis and real-time live system loopback monitoring prevent unwanted cross-interference.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37760" y="109728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Segoe UI"/>
              </a:defRPr>
            </a:pPr>
            <a:r>
              <a:t>Four-Tier Modular Pipeline: Low-Latency Ingestion, Dual Neural Cores, and Native Desktop Alerts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2423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82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8232C"/>
                </a:solidFill>
                <a:latin typeface="Segoe UI"/>
              </a:defRPr>
            </a:pPr>
            <a:r>
              <a:t>TIER 1: CAPTURE &amp; INGEST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▸ Screen Capture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mss worker with 1-element queue to prevent lag; samples active monitors at 1fps.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▸ Audio Loopback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soundcard WASAPI Loopback recording system speaker audio in float32 chunks.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▸ File Ingestion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PyAV multi-stream demuxing supporting MP4, MOV, WAV, FLAC, MKV.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57016" y="2331720"/>
            <a:ext cx="2423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9488"/>
                </a:solidFill>
                <a:latin typeface="Segoe UI"/>
              </a:defRPr>
            </a:pPr>
            <a:r>
              <a:t>TIER 2: PREPROCESSING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▸ Face Crop Engine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Multi-cascade Haar with adaptive 70px minSize to eliminate false clutter faces.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▸ Acoustic Prep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16 kHz mono resampling, sliding 3.0s window, zero-mean unit-variance norm.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▸ Watermark ROI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Bottom-right 28% frame isolation and Canny edge map extraction.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2331720"/>
            <a:ext cx="2423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TIER 3: NEURAL CORES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▸ Vision Transformer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ViT Deepfake Classifier (224x224 RGB, SIMD/AVX2 CPU execution, ~205ms).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▸ Acoustic Spoofing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INT8 Quantized Wav2Vec2 Large XLSR (355 MB, ~140ms latency on CPU).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▸ Watermark Match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Multi-scale Canny correlation against Google Gemini SynthID template.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2248" y="2331720"/>
            <a:ext cx="242316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9488"/>
                </a:solidFill>
                <a:latin typeface="Segoe UI"/>
              </a:defRPr>
            </a:pPr>
            <a:r>
              <a:t>TIER 4: DISPATCH &amp; HUD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▸ Central Alert Hub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Thread-safe broker with cooldown deduplication and metadata persistence.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▸ Strict Decoupling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Live monitoring broadcasts over WebSocket; offline uploads update report.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▸ Native Shell &amp; HUD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Electron desktop shell + floating Windows toolbar overlay + React 18 UI.</a:t>
            </a:r>
          </a:p>
        </p:txBody>
      </p:sp>
    </p:spTree>
  </p:cSld>
  <p:clrMapOvr>
    <a:masterClrMapping/>
  </p:clrMapOvr>
  <p:transition spd="med" advClick="1">
    <p:wipe dir="r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_work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4592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Segoe UI"/>
              </a:defRPr>
            </a:pPr>
            <a:r>
              <a:t>Two Independent Operating Modes: Complete Decoupling Between Offline Media and Live System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48840"/>
            <a:ext cx="4937760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82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8232C"/>
                </a:solidFill>
                <a:latin typeface="Segoe UI"/>
              </a:defRPr>
            </a:pPr>
            <a:r>
              <a:t>WORKFLOW A: OFFLINE MEDIA ANALYSIS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▸  Step 1: Ingestion &amp; Integrity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    User drops recorded video or audio clip (up to 500MB). PyAV verifies container streams and checks AI encoder metadata.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▸  Step 2: Stream Decomposition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    Video frames sampled at configurable intervals (0.5s–1.0s); audio demuxed into 16kHz mono chunks.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▸  Step 3: Deep Multi-Modal Scanning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    Vision Transformer evaluates face crops; watermark matcher checks Canny star correlation; Wav2Vec2 classifies acoustic spoofing.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▸  Step 4: Forensic Assessment Report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    Generates overall verdict ('Suspicious Video', 'Suspicious Audio', or 'Authentic'), peak fake scores, timestamps, and evidence summary.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48840"/>
            <a:ext cx="5029200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  <a:latin typeface="Segoe UI"/>
              </a:defRPr>
            </a:pPr>
            <a:r>
              <a:t>WORKFLOW B: REAL-TIME LIVE MONITORING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▸  Step 1: Source Initialization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    Select display monitor and audio loopback output. Monitoring can be toggled from app UI or floating Windows HUD toolbar.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▸  Step 2: Low-Latency Inference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    Background worker captures active screen frames and speaker loopback audio; drops stale frames immediately to ensure sub-second response.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▸  Step 3: Autonomous Threat Triggering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    Triggers immediate alerts on suspicious facial generation (&gt;=0.52), generative watermarks (&gt;=0.85), or synthetic voice cues (&gt;=0.65).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▸  Step 4: Real-Time HUD &amp; Disparity Modal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    Pushes real-time WebSocket alert. Disparity modal pops up over video calls with suggested actions (e.g., secondary verification).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_u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4592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Segoe UI"/>
              </a:defRPr>
            </a:pPr>
            <a:r>
              <a:t>Four Pillars of Competitive Advantage: Privacy, Precision, Edge Speed, and Verified Calibration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48840"/>
            <a:ext cx="493776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82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8232C"/>
                </a:solidFill>
                <a:latin typeface="Segoe UI"/>
              </a:defRPr>
            </a:pPr>
            <a:r>
              <a:t>1.  100% Local &amp; Zero Cloud Exposure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All neural inferences run strictly on-device using local CPU/GPU runtime. Zero media frames or audio streams ever leave the user's computer. Enforces a strict 15-minute ephemeral auto-purge policy for maximum privacy compliance.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48840"/>
            <a:ext cx="493776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2.  Multi-Modal Triangulation &amp; Watermarks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Combines Vision Transformer (ViT) spatial artifact scoring, Google Gemini / SynthID 4-pointed star edge correlation, and Wav2Vec2 acoustic spoofing detection. Eliminates blind spots from visual skin smoothing.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69080"/>
            <a:ext cx="493776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3.  Strict Operational Decoupling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First-of-its-kind dual architecture where offline media uploads never trigger distracting live monitoring popups or start capture workers. Live monitoring and media analysis remain strictly isolated.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69080"/>
            <a:ext cx="493776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4.  Calibrated Benchmark Performance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INT8-quantized audio model (355 MB) cuts memory by 4x. Tested with 100% precision on Gemini AI videos (0.96-0.996 confidence) and 100% authentic classification across 50+ real smartphone recordings.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943600"/>
            <a:ext cx="10332720" cy="4114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82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8232C"/>
                </a:solidFill>
                <a:latin typeface="Segoe UI"/>
              </a:defRPr>
            </a:pPr>
            <a:r>
              <a:t>BENCHMARK: 100% Fake Detection (Gemini AI Videos)  |  100% Real Retention (Smartphone Camera Dataset)  |  22 Automated Pytest Tests Passing</a:t>
            </a:r>
          </a:p>
        </p:txBody>
      </p:sp>
    </p:spTree>
  </p:cSld>
  <p:clrMapOvr>
    <a:masterClrMapping/>
  </p:clrMapOvr>
  <p:transition spd="med" advClick="1">
    <p:split dir="out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_re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4592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Segoe UI"/>
              </a:defRPr>
            </a:pPr>
            <a:r>
              <a:t>Academic Foundations, Open-Source Technologies, and Public Forensic Datasets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48840"/>
            <a:ext cx="4937760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82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8232C"/>
                </a:solidFill>
                <a:latin typeface="Segoe UI"/>
              </a:defRPr>
            </a:pPr>
            <a:r>
              <a:t>SCIENTIFIC CITATIONS &amp; MODELS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•  Vision Transformer (ViT)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 Dosovitskiy et al., ICLR 2021. 'An Image is Worth 16x16 Words: Transformers for Image Recognition at Scale.' Used for spatial facial anomaly classification.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•  Wav2Vec 2.0 Audio Framework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 Baevski et al., NeurIPS 2020. 'wav2vec 2.0: A Framework for Self-Supervised Learning of Speech Representations.' Base for acoustic spoofing classifier.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•  ASVspoof Challenge Benchmark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 Yamagishi et al., Computer Speech &amp; Language 2021. Dataset and evaluation metrics for voice spoofing and synthetic vocoder detection.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•  FaceForensics++ Benchmark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 Rössler et al., ICCV 2019. 'FaceForensics++: Learning to Detect Manipulated Facial Images.' CVF Open Access benchmark for facial manipulation.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•  Google SynthID Provenance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 Google DeepMind SynthID Imperceptible Generative Watermarking &amp; Metadata Provenance Specifications.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48840"/>
            <a:ext cx="5029200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  <a:latin typeface="Segoe UI"/>
              </a:defRPr>
            </a:pPr>
            <a:r>
              <a:t>CORE OPEN-SOURCE ECOSYSTEM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✔  Inference Engines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 ONNX Runtime 1.31 (CPU AVX2/SIMD acceleration, INT8 quantization), PyTorch 2.14, TorchAudio, Hugging Face Transformers.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✔  Media &amp; Video Processing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 PyAV 18.1 (FFmpeg 9.0 native C bindings for demuxing), OpenCV (cv2) for Haar cascades and Canny edge correlation, Pillow (PIL).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✔  System Capture Loopback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 SoundCard (Windows WASAPI loopback audio capture), mss 10.2 (low-latency multi-monitor screen grab).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✔  Backend Web Core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 FastAPI 0.115, Uvicorn 0.34, Pydantic v2, WebSockets for asynchronous live event streaming.</a:t>
            </a:r>
          </a:p>
          <a:p>
            <a:pPr>
              <a:defRPr b="1" sz="1100">
                <a:solidFill>
                  <a:srgbClr val="1E293B"/>
                </a:solidFill>
                <a:latin typeface="Segoe UI"/>
              </a:defRPr>
            </a:pPr>
            <a:r>
              <a:t>✔  Desktop Shell &amp; Frontend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 Electron 32 (Chromium/Node desktop wrapper), React 18, Vite 5, Tailwind CSS, Lucide Icons.</a:t>
            </a:r>
          </a:p>
        </p:txBody>
      </p:sp>
    </p:spTree>
  </p:cSld>
  <p:clrMapOvr>
    <a:masterClrMapping/>
  </p:clrMapOvr>
  <p:transition spd="med" advClick="1">
    <p:wipe dir="r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28800" y="4937760"/>
            <a:ext cx="8531352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82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8232C"/>
                </a:solidFill>
                <a:latin typeface="Segoe UI"/>
              </a:defRPr>
            </a:pPr>
            <a:r>
              <a:t>TRUST WIRE  |  DETECT DECEPTION BEFORE IT COSTS YOU</a:t>
            </a:r>
          </a:p>
          <a:p>
            <a:pPr algn="ctr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Team: the omniscient   •   Rudra Veer Singh  •  Daksh Pratap Singh  •  Shivaksh Arya  •  Suhel Khan</a:t>
            </a:r>
          </a:p>
          <a:p>
            <a:pPr algn="ct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Reforged '26  •  Open for Live Demonstration &amp; Questions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